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7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498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"/>
              </a:rPr>
              <a:t>RISE 55+ Q1 2026 Performance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9601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DAEAF0"/>
                </a:solidFill>
                <a:latin typeface="Helvetica"/>
              </a:rPr>
              <a:t>Reporting window: </a:t>
            </a:r>
            <a:r>
              <a:rPr lang="en-US" sz="1100" b="0" dirty="0">
                <a:solidFill>
                  <a:srgbClr val="DAEAF0"/>
                </a:solidFill>
                <a:latin typeface="Helvetica"/>
              </a:rPr>
              <a:t>Q1 </a:t>
            </a:r>
            <a:r>
              <a:rPr sz="1100" b="0" dirty="0">
                <a:solidFill>
                  <a:srgbClr val="DAEAF0"/>
                </a:solidFill>
                <a:latin typeface="Helvetica"/>
              </a:rPr>
              <a:t>January 1-March 31, 2026. Prior-year operational box score </a:t>
            </a:r>
            <a:r>
              <a:rPr lang="en-US" sz="1100" b="0" dirty="0">
                <a:solidFill>
                  <a:srgbClr val="DAEAF0"/>
                </a:solidFill>
                <a:latin typeface="Helvetica"/>
              </a:rPr>
              <a:t>Q1 – January 1-March 31, 2025</a:t>
            </a:r>
            <a:endParaRPr sz="1100" b="0" dirty="0">
              <a:solidFill>
                <a:srgbClr val="DAEAF0"/>
              </a:solidFill>
              <a:latin typeface="Helvetic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561320" y="146304"/>
            <a:ext cx="1170432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se_logo_brand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219456"/>
            <a:ext cx="749808" cy="3576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133856"/>
            <a:ext cx="562356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33856"/>
            <a:ext cx="5623560" cy="786384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Helvetica"/>
              </a:rPr>
              <a:t>RISE Glen Kernan 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81912"/>
            <a:ext cx="5166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BEFF7"/>
                </a:solidFill>
                <a:latin typeface="Helvetica"/>
              </a:rPr>
              <a:t>Jacksonville, FL  |  Early lease-up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1691640" cy="768096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121408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Helvetica"/>
              </a:rPr>
              <a:t>PHYSICAL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30428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10.1%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011680"/>
            <a:ext cx="1691640" cy="768096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50592" y="2121408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Helvetica"/>
              </a:rPr>
              <a:t>LEASED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2" y="230428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14.3%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2011680"/>
            <a:ext cx="1691640" cy="768096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33672" y="2121408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Helvetica"/>
              </a:rPr>
              <a:t>Q1 LEASES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230428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07792"/>
            <a:ext cx="5257800" cy="64008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984" y="2974706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Leads / Tours / Move-ins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0031" y="2955022"/>
            <a:ext cx="2606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2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64</a:t>
            </a:r>
            <a:r>
              <a:rPr sz="1400" b="1" dirty="0">
                <a:solidFill>
                  <a:srgbClr val="023046"/>
                </a:solidFill>
                <a:latin typeface="Helvetica"/>
              </a:rPr>
              <a:t> / 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108</a:t>
            </a:r>
            <a:r>
              <a:rPr sz="1400" b="1" dirty="0">
                <a:solidFill>
                  <a:srgbClr val="023046"/>
                </a:solidFill>
                <a:latin typeface="Helvetica"/>
              </a:rPr>
              <a:t> / 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584448"/>
            <a:ext cx="5257800" cy="64008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3657600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Avg Net Eff. 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952" y="3621521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$3,220 | Budget $3,015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61104"/>
            <a:ext cx="5257800" cy="64008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964775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Submarket Avg Rent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1820" y="3939435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$2,231 | Premium +44.3%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937759"/>
            <a:ext cx="5257800" cy="1190423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345527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Q1 Total Income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23260" y="4335212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$211,895 vs $370,913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604855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Q1 Net Rental 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3260" y="4649724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$189,623 vs $324,145 budget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337" y="5111791"/>
            <a:ext cx="5111496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dirty="0"/>
              <a:t>GKP prior-year comparison is not meaningful: Q1 2025 income and occupancy were effectively zero before lease-up activity.</a:t>
            </a:r>
            <a:endParaRPr lang="en-US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6245352" y="1133856"/>
            <a:ext cx="562356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45352" y="1133856"/>
            <a:ext cx="5623560" cy="786384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128016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Helvetica"/>
              </a:rPr>
              <a:t>RISE Viera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1581912"/>
            <a:ext cx="5166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BEFF7"/>
                </a:solidFill>
                <a:latin typeface="Helvetica"/>
              </a:rPr>
              <a:t>Viera, FL  |  Lease-up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28232" y="2011680"/>
            <a:ext cx="1691640" cy="768096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92824" y="2121408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Helvetica"/>
              </a:rPr>
              <a:t>PHYSICAL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230428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53.6%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11312" y="2011680"/>
            <a:ext cx="1691640" cy="768096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75904" y="2121408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Helvetica"/>
              </a:rPr>
              <a:t>LEASED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230428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59.6%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94392" y="2011680"/>
            <a:ext cx="1691640" cy="768096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158984" y="2121408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Helvetica"/>
              </a:rPr>
              <a:t>Q1 LEASES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58984" y="230428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14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28232" y="2907792"/>
            <a:ext cx="5257800" cy="64008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79214" y="2966222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Leads / Tours / Move-ins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51976" y="2955022"/>
            <a:ext cx="2606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1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72</a:t>
            </a:r>
            <a:r>
              <a:rPr sz="1400" b="1" dirty="0">
                <a:solidFill>
                  <a:srgbClr val="023046"/>
                </a:solidFill>
                <a:latin typeface="Helvetica"/>
              </a:rPr>
              <a:t> / 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71</a:t>
            </a:r>
            <a:r>
              <a:rPr sz="1400" b="1" dirty="0">
                <a:solidFill>
                  <a:srgbClr val="023046"/>
                </a:solidFill>
                <a:latin typeface="Helvetica"/>
              </a:rPr>
              <a:t> / 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28232" y="3584448"/>
            <a:ext cx="5257800" cy="64008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92824" y="3639809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Avg Net Eff. Rent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34272" y="3657600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$2,312 | Budget $2,333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28232" y="4261104"/>
            <a:ext cx="5257800" cy="64008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79214" y="3935216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Submarket Avg Rent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25712" y="3956269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$2,111 | Premium +9.5%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28232" y="4971253"/>
            <a:ext cx="5257800" cy="1150336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79214" y="4334256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Q1 Total Income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9992" y="4325112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$667,608 vs $670,815 budget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79214" y="4617720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Q1 Net Rental Income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87435" y="4640261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$608,320 vs $606,360 budget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80331" y="5061098"/>
            <a:ext cx="511149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dirty="0"/>
              <a:t>Viera physical occupancy improved from 26.6% (Jan 31, 2025) to 53.6%; Q1 NRI improved from $311,782 to $608,320.</a:t>
            </a:r>
            <a:endParaRPr lang="en-US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dirty="0"/>
              <a:t>Available units: 73 | Vacant rented: 10 | Notices rented: 1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dirty="0"/>
              <a:t>Income variance to budget: -0.5% | NRI variance: +0.3%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291072"/>
            <a:ext cx="11338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4F7686"/>
                </a:solidFill>
                <a:latin typeface="Helvetica"/>
              </a:rPr>
              <a:t>Source set: Q1 2026 box score exports, Q1 2026 income statement budget-vs-actual workbook, and January 2025 operational snapshot / Q1 2025 financial workbook.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C2D15C-F62B-8FF0-BB51-06BC4DFD5D53}"/>
              </a:ext>
            </a:extLst>
          </p:cNvPr>
          <p:cNvSpPr txBox="1"/>
          <p:nvPr/>
        </p:nvSpPr>
        <p:spPr>
          <a:xfrm>
            <a:off x="612825" y="3285932"/>
            <a:ext cx="24752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Leads / Tours / Move-ins</a:t>
            </a:r>
            <a:r>
              <a:rPr lang="en-US" sz="1100" b="1" dirty="0">
                <a:solidFill>
                  <a:srgbClr val="4F7686"/>
                </a:solidFill>
                <a:latin typeface="Helvetica"/>
              </a:rPr>
              <a:t> 2025*</a:t>
            </a:r>
            <a:endParaRPr sz="1100" b="1" dirty="0">
              <a:solidFill>
                <a:srgbClr val="4F7686"/>
              </a:solidFill>
              <a:latin typeface="Helvetic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D6B4A4-AC5F-57C3-BBD9-2C641C65E0BA}"/>
              </a:ext>
            </a:extLst>
          </p:cNvPr>
          <p:cNvSpPr txBox="1"/>
          <p:nvPr/>
        </p:nvSpPr>
        <p:spPr>
          <a:xfrm>
            <a:off x="2990088" y="3267527"/>
            <a:ext cx="2606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2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70</a:t>
            </a:r>
            <a:r>
              <a:rPr sz="1400" b="1" dirty="0">
                <a:solidFill>
                  <a:srgbClr val="023046"/>
                </a:solidFill>
                <a:latin typeface="Helvetica"/>
              </a:rPr>
              <a:t> / 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45</a:t>
            </a:r>
            <a:r>
              <a:rPr sz="1400" b="1" dirty="0">
                <a:solidFill>
                  <a:srgbClr val="023046"/>
                </a:solidFill>
                <a:latin typeface="Helvetica"/>
              </a:rPr>
              <a:t> / 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0 </a:t>
            </a:r>
            <a:endParaRPr sz="1400" b="1" dirty="0">
              <a:solidFill>
                <a:srgbClr val="023046"/>
              </a:solidFill>
              <a:latin typeface="Helvetic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3FF39D6-F9B9-F0C9-AAD4-2A37C925814F}"/>
              </a:ext>
            </a:extLst>
          </p:cNvPr>
          <p:cNvSpPr txBox="1"/>
          <p:nvPr/>
        </p:nvSpPr>
        <p:spPr>
          <a:xfrm>
            <a:off x="6592824" y="3267974"/>
            <a:ext cx="24752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Leads / Tours / Move-ins</a:t>
            </a:r>
            <a:r>
              <a:rPr lang="en-US" sz="1100" b="1" dirty="0">
                <a:solidFill>
                  <a:srgbClr val="4F7686"/>
                </a:solidFill>
                <a:latin typeface="Helvetica"/>
              </a:rPr>
              <a:t> 2025*</a:t>
            </a:r>
            <a:endParaRPr sz="1100" b="1" dirty="0">
              <a:solidFill>
                <a:srgbClr val="4F7686"/>
              </a:solidFill>
              <a:latin typeface="Helvetic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6E51B3-E83C-9B8F-62EE-CE17005B4EA6}"/>
              </a:ext>
            </a:extLst>
          </p:cNvPr>
          <p:cNvSpPr txBox="1"/>
          <p:nvPr/>
        </p:nvSpPr>
        <p:spPr>
          <a:xfrm>
            <a:off x="9057132" y="3267527"/>
            <a:ext cx="2606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023046"/>
                </a:solidFill>
                <a:latin typeface="Helvetica"/>
              </a:rPr>
              <a:t>1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81</a:t>
            </a:r>
            <a:r>
              <a:rPr sz="1400" b="1" dirty="0">
                <a:solidFill>
                  <a:srgbClr val="023046"/>
                </a:solidFill>
                <a:latin typeface="Helvetica"/>
              </a:rPr>
              <a:t> / 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83</a:t>
            </a:r>
            <a:r>
              <a:rPr sz="1400" b="1" dirty="0">
                <a:solidFill>
                  <a:srgbClr val="023046"/>
                </a:solidFill>
                <a:latin typeface="Helvetica"/>
              </a:rPr>
              <a:t> / </a:t>
            </a:r>
            <a:r>
              <a:rPr lang="en-US" sz="1400" b="1" dirty="0">
                <a:solidFill>
                  <a:srgbClr val="023046"/>
                </a:solidFill>
                <a:latin typeface="Helvetica"/>
              </a:rPr>
              <a:t>13</a:t>
            </a:r>
            <a:endParaRPr sz="1400" b="1" dirty="0">
              <a:solidFill>
                <a:srgbClr val="023046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841248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498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"/>
              </a:rPr>
              <a:t>Filtered 55+ / Active-Adult Absorption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558" y="57150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DAEAF0"/>
                </a:solidFill>
                <a:latin typeface="Helvetica"/>
              </a:rPr>
              <a:t>Absorption proxy = leases in last 30 days / total units from the March 24, 2026 market reports. Quarterly and annual figures are run-rate equivalents.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146304"/>
            <a:ext cx="1170432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se_logo_brand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219456"/>
            <a:ext cx="749808" cy="3576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115568"/>
            <a:ext cx="562356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623560" cy="566928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088136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Helvetica"/>
              </a:rPr>
              <a:t>RISE at Glen Kernan Park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25296"/>
            <a:ext cx="1417320" cy="256032"/>
          </a:xfrm>
          <a:prstGeom prst="roundRect">
            <a:avLst/>
          </a:prstGeom>
          <a:solidFill>
            <a:srgbClr val="E69200"/>
          </a:solidFill>
          <a:ln>
            <a:solidFill>
              <a:srgbClr val="E6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88536" y="1261872"/>
            <a:ext cx="134416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Helvetica"/>
              </a:rPr>
              <a:t>SLIGHTLY SLOWER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1810512"/>
            <a:ext cx="1645920" cy="96012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797" y="1813702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F7686"/>
                </a:solidFill>
                <a:latin typeface="Helvetica"/>
              </a:rPr>
              <a:t>Subject monthly 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089508"/>
            <a:ext cx="13167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23046"/>
                </a:solidFill>
                <a:latin typeface="Helvetica"/>
              </a:rPr>
              <a:t>2.9%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642" y="2508419"/>
            <a:ext cx="1316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023046"/>
                </a:solidFill>
                <a:latin typeface="Helvetica"/>
              </a:rPr>
              <a:t>9 leases / 308 units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1810512"/>
            <a:ext cx="1645920" cy="96012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18802" y="1813702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F7686"/>
                </a:solidFill>
                <a:latin typeface="Helvetica"/>
              </a:rPr>
              <a:t>Filtered submarket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7551" y="2083980"/>
            <a:ext cx="13167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23046"/>
                </a:solidFill>
                <a:latin typeface="Helvetica"/>
              </a:rPr>
              <a:t>3.7%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7319" y="2379778"/>
            <a:ext cx="1316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023046"/>
                </a:solidFill>
                <a:latin typeface="Helvetica"/>
              </a:rPr>
              <a:t>Quarterly 11.0% | Annualized 44.0%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95928" y="1810512"/>
            <a:ext cx="1645920" cy="96012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19161" y="1824758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F7686"/>
                </a:solidFill>
                <a:latin typeface="Helvetica"/>
              </a:rPr>
              <a:t>Leased 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8143" y="2135543"/>
            <a:ext cx="13167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23046"/>
                </a:solidFill>
                <a:latin typeface="Helvetica"/>
              </a:rPr>
              <a:t>13.0% vs 83.9%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8938" y="2427614"/>
            <a:ext cx="1382445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023046"/>
                </a:solidFill>
                <a:latin typeface="Helvetica"/>
              </a:rPr>
              <a:t>Gap to filtered peer set: -70.9 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" y="2907792"/>
            <a:ext cx="2377440" cy="1078992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" y="2919274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Filtered comp 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255264"/>
            <a:ext cx="20299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023046"/>
                </a:solidFill>
                <a:latin typeface="Helvetica"/>
              </a:defRPr>
            </a:pPr>
            <a:r>
              <a:t>Olea at Beach Haven</a:t>
            </a:r>
          </a:p>
          <a:p>
            <a:pPr>
              <a:spcAft>
                <a:spcPts val="400"/>
              </a:spcAft>
              <a:defRPr sz="1050">
                <a:solidFill>
                  <a:srgbClr val="023046"/>
                </a:solidFill>
                <a:latin typeface="Helvetica"/>
              </a:defRPr>
            </a:pPr>
            <a:r>
              <a:t>Olea eTown</a:t>
            </a:r>
          </a:p>
          <a:p>
            <a:pPr>
              <a:spcAft>
                <a:spcPts val="400"/>
              </a:spcAft>
              <a:defRPr sz="1050">
                <a:solidFill>
                  <a:srgbClr val="023046"/>
                </a:solidFill>
                <a:latin typeface="Helvetica"/>
              </a:defRPr>
            </a:pPr>
            <a:r>
              <a:t>RISE at Nocatee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90088" y="2907792"/>
            <a:ext cx="2788920" cy="1078992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48939" y="2887801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Pace 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4972" y="3182112"/>
            <a:ext cx="23591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E69200"/>
                </a:solidFill>
                <a:latin typeface="Helvetica"/>
              </a:rPr>
              <a:t>Pace variance: -0.8 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293" y="3577899"/>
            <a:ext cx="2359152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023046"/>
                </a:solidFill>
                <a:latin typeface="Helvetica"/>
              </a:rPr>
              <a:t>Filtered Jacksonville 55+ / active-adult peers are led by Olea </a:t>
            </a:r>
            <a:r>
              <a:rPr sz="950" b="0" dirty="0" err="1">
                <a:solidFill>
                  <a:srgbClr val="023046"/>
                </a:solidFill>
                <a:latin typeface="Helvetica"/>
              </a:rPr>
              <a:t>eTown</a:t>
            </a:r>
            <a:r>
              <a:rPr sz="950" b="0" dirty="0">
                <a:solidFill>
                  <a:srgbClr val="023046"/>
                </a:solidFill>
                <a:latin typeface="Helvetica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" y="4160520"/>
            <a:ext cx="5294376" cy="1572768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4315968"/>
            <a:ext cx="4937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"/>
              </a:rPr>
              <a:t>Jacksonville active-adult benchmark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4572000"/>
            <a:ext cx="475488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rPr dirty="0"/>
              <a:t>RISE at Glen Kernan Park is slightly slower versus the filtered submarket on current leasing velocity.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rPr dirty="0"/>
              <a:t>Current leased percentage remains below the filtered benchmark by 70.9 points</a:t>
            </a:r>
            <a:r>
              <a:rPr lang="en-US" dirty="0"/>
              <a:t> due to lease up status versus comps at stabilized occupancy. </a:t>
            </a:r>
            <a:endParaRPr dirty="0"/>
          </a:p>
        </p:txBody>
      </p:sp>
      <p:sp>
        <p:nvSpPr>
          <p:cNvPr id="35" name="Rectangle 34"/>
          <p:cNvSpPr/>
          <p:nvPr/>
        </p:nvSpPr>
        <p:spPr>
          <a:xfrm>
            <a:off x="6245352" y="1115568"/>
            <a:ext cx="562356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45352" y="1115568"/>
            <a:ext cx="5623560" cy="566928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1216152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Helvetica"/>
              </a:rPr>
              <a:t>RISE Viera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77272" y="1225296"/>
            <a:ext cx="1417320" cy="256032"/>
          </a:xfrm>
          <a:prstGeom prst="roundRect">
            <a:avLst/>
          </a:prstGeom>
          <a:solidFill>
            <a:srgbClr val="189C53"/>
          </a:solidFill>
          <a:ln>
            <a:solidFill>
              <a:srgbClr val="189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13848" y="1261872"/>
            <a:ext cx="134416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Helvetica"/>
              </a:rPr>
              <a:t>AHEAD ON PACE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9944" y="1810512"/>
            <a:ext cx="1645920" cy="96012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9944" y="1813702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F7686"/>
                </a:solidFill>
                <a:latin typeface="Helvetica"/>
              </a:rPr>
              <a:t>Subject monthly pace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2110352"/>
            <a:ext cx="13167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549DB8"/>
                </a:solidFill>
                <a:latin typeface="Helvetica"/>
              </a:rPr>
              <a:t>4.2%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9944" y="2528316"/>
            <a:ext cx="1316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023046"/>
                </a:solidFill>
                <a:latin typeface="Helvetica"/>
              </a:rPr>
              <a:t>7 leases / 166 units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65592" y="1810512"/>
            <a:ext cx="1645920" cy="96012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14343" y="1824758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F7686"/>
                </a:solidFill>
                <a:latin typeface="Helvetica"/>
              </a:rPr>
              <a:t>Filtered submarket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2874" y="2110352"/>
            <a:ext cx="13167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23046"/>
                </a:solidFill>
                <a:latin typeface="Helvetica"/>
              </a:rPr>
              <a:t>1.9%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0739" y="2423160"/>
            <a:ext cx="13167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023046"/>
                </a:solidFill>
                <a:latin typeface="Helvetica"/>
              </a:rPr>
              <a:t>Quarterly 5.7% | Annualized 22.7%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21240" y="1810512"/>
            <a:ext cx="1645920" cy="96012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62761" y="1805194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F7686"/>
                </a:solidFill>
                <a:latin typeface="Helvetica"/>
              </a:rPr>
              <a:t>Leased position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54758" y="2135543"/>
            <a:ext cx="163725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23046"/>
                </a:solidFill>
                <a:latin typeface="Helvetica"/>
              </a:rPr>
              <a:t>72.0% vs 85.0%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8380" y="2422049"/>
            <a:ext cx="1448367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023046"/>
                </a:solidFill>
                <a:latin typeface="Helvetica"/>
              </a:rPr>
              <a:t>Gap to filtered peer set: -13.0 pts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9944" y="2907792"/>
            <a:ext cx="2377440" cy="1078992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54813" y="2939689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Filtered comp set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7104" y="3255264"/>
            <a:ext cx="2203704" cy="62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023046"/>
                </a:solidFill>
                <a:latin typeface="Helvetica"/>
              </a:defRPr>
            </a:pPr>
            <a:r>
              <a:rPr dirty="0"/>
              <a:t>Parasol Melbourne</a:t>
            </a:r>
            <a:r>
              <a:rPr lang="en-US" dirty="0"/>
              <a:t> </a:t>
            </a:r>
          </a:p>
          <a:p>
            <a:pPr>
              <a:spcAft>
                <a:spcPts val="400"/>
              </a:spcAft>
              <a:defRPr sz="1050">
                <a:solidFill>
                  <a:srgbClr val="023046"/>
                </a:solidFill>
                <a:latin typeface="Helvetica"/>
              </a:defRPr>
            </a:pPr>
            <a:r>
              <a:rPr lang="en-US" dirty="0"/>
              <a:t>All In NER – in favor of Viera +$25</a:t>
            </a:r>
            <a:endParaRPr dirty="0"/>
          </a:p>
        </p:txBody>
      </p:sp>
      <p:sp>
        <p:nvSpPr>
          <p:cNvPr id="55" name="Rectangle 54"/>
          <p:cNvSpPr/>
          <p:nvPr/>
        </p:nvSpPr>
        <p:spPr>
          <a:xfrm>
            <a:off x="8915400" y="2907792"/>
            <a:ext cx="2788920" cy="1078992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87968" y="2898648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Pace read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12953" y="3182987"/>
            <a:ext cx="23591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89C53"/>
                </a:solidFill>
                <a:latin typeface="Helvetica"/>
              </a:rPr>
              <a:t>Pace variance: +2.3 pts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3511296"/>
            <a:ext cx="23591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023046"/>
                </a:solidFill>
                <a:latin typeface="Helvetica"/>
              </a:rPr>
              <a:t>Filtered pace is modest and benchmark depth is thin: the shared report includes one clean active-adult comp.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9944" y="4160520"/>
            <a:ext cx="5294376" cy="1572768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92824" y="4315968"/>
            <a:ext cx="4937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"/>
              </a:rPr>
              <a:t>Viera active-adult benchmark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56248" y="4572000"/>
            <a:ext cx="475488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rPr dirty="0"/>
              <a:t>RISE Viera is ahead on pace versus the filtered submarket on current leasing velocity.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rPr dirty="0"/>
              <a:t>Current leased percentage remains below the filtered benchmark by 13.0 points</a:t>
            </a:r>
            <a:r>
              <a:rPr lang="en-US" dirty="0"/>
              <a:t>, but above submarket comps NER</a:t>
            </a:r>
            <a:r>
              <a:rPr dirty="0"/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6309360"/>
            <a:ext cx="112928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4F7686"/>
                </a:solidFill>
                <a:latin typeface="Helvetica"/>
              </a:rPr>
              <a:t>Filtered benchmark excludes conventional multifamily and non-direct senior living where the shared report suggested a weaker apples-to-apples comparison. Viera remains directional because the filtered set includes one clean active-adult comp.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498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"/>
              </a:rPr>
              <a:t>30 / 60 / 90 Day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146304"/>
            <a:ext cx="1170432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se_logo_brand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219456"/>
            <a:ext cx="749808" cy="3576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097280"/>
            <a:ext cx="562356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5623560" cy="73152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632" y="1216152"/>
            <a:ext cx="3749039" cy="310896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234440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GKP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1627631"/>
            <a:ext cx="5294376" cy="1603069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591056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1844822"/>
            <a:ext cx="5641848" cy="1559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Market analysis and marketing plan adjustments </a:t>
            </a:r>
            <a:r>
              <a:rPr lang="en-US" sz="900" dirty="0"/>
              <a:t>(</a:t>
            </a:r>
            <a:r>
              <a:rPr sz="900" dirty="0"/>
              <a:t>SEO, ads, mailers</a:t>
            </a:r>
            <a:r>
              <a:rPr lang="en-US" sz="900" dirty="0"/>
              <a:t>): on-going</a:t>
            </a:r>
            <a:endParaRPr sz="900" dirty="0"/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strike="sngStrike" dirty="0"/>
              <a:t>Pricing reset</a:t>
            </a:r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strike="sngStrike" dirty="0"/>
              <a:t>Leasing Manager hired</a:t>
            </a:r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strike="sngStrike" dirty="0"/>
              <a:t>Fast-fill bonus structure launched to drive velocity</a:t>
            </a:r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strike="sngStrike" dirty="0"/>
              <a:t>All-in pricing </a:t>
            </a:r>
            <a:r>
              <a:rPr lang="en-US" sz="900" strike="sngStrike" dirty="0"/>
              <a:t>and marketing verbiage updates</a:t>
            </a:r>
            <a:endParaRPr sz="900" strike="sngStrike" dirty="0"/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lang="en-US" sz="900" dirty="0"/>
              <a:t>I</a:t>
            </a:r>
            <a:r>
              <a:rPr sz="900" dirty="0"/>
              <a:t>n-person training: lead intake, first response, discovery, follow-up, and closing execution</a:t>
            </a:r>
            <a:endParaRPr lang="en-US" sz="900" dirty="0"/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lang="en-US" sz="900" dirty="0"/>
              <a:t>55+ redesigned application experience</a:t>
            </a:r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endParaRPr sz="900" dirty="0"/>
          </a:p>
        </p:txBody>
      </p:sp>
      <p:sp>
        <p:nvSpPr>
          <p:cNvPr id="15" name="Rectangle 14"/>
          <p:cNvSpPr/>
          <p:nvPr/>
        </p:nvSpPr>
        <p:spPr>
          <a:xfrm>
            <a:off x="484632" y="3307473"/>
            <a:ext cx="5294376" cy="1683846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" y="3319874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31-60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514323"/>
            <a:ext cx="5202936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Hire Leasing Professional</a:t>
            </a:r>
            <a:r>
              <a:rPr lang="en-US" sz="900" dirty="0"/>
              <a:t> – On-going</a:t>
            </a:r>
            <a:endParaRPr sz="900" dirty="0"/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Hire Lifestyle Coordinator</a:t>
            </a:r>
            <a:r>
              <a:rPr lang="en-US" sz="900" dirty="0"/>
              <a:t> – Final candidate selection In- Process</a:t>
            </a:r>
            <a:endParaRPr sz="900" dirty="0"/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strike="sngStrike" dirty="0"/>
              <a:t>Update discovery process and add testimonials into the tour path</a:t>
            </a:r>
            <a:endParaRPr lang="en-US" sz="900" strike="sngStrike" dirty="0"/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lang="en-US" sz="900" dirty="0"/>
              <a:t>Pre-record upcoming units for in-person tools to showcase non-accessible construction floor plans </a:t>
            </a:r>
            <a:endParaRPr sz="900" dirty="0"/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Continue submarket checks to balance velocity with asset value protection</a:t>
            </a:r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lang="en-US" sz="900" dirty="0"/>
              <a:t>R</a:t>
            </a:r>
            <a:r>
              <a:rPr sz="900" dirty="0"/>
              <a:t>eferral-program launch once occupancy exceeds 25%</a:t>
            </a:r>
            <a:endParaRPr lang="en-US" sz="900" dirty="0"/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lang="en-US" sz="900" dirty="0"/>
              <a:t>Follow up in-person training/corp. leasing support w/ RISE Lease Up Specialist - 55+ Experienced Morgan Matlock</a:t>
            </a:r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endParaRPr sz="900" dirty="0"/>
          </a:p>
        </p:txBody>
      </p:sp>
      <p:sp>
        <p:nvSpPr>
          <p:cNvPr id="18" name="Rectangle 17"/>
          <p:cNvSpPr/>
          <p:nvPr/>
        </p:nvSpPr>
        <p:spPr>
          <a:xfrm>
            <a:off x="484632" y="5047192"/>
            <a:ext cx="5294376" cy="576368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5020056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61-90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5225792"/>
            <a:ext cx="5010912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Monitor vacant utilities and maintenance costs closely while occupancy builds</a:t>
            </a:r>
          </a:p>
          <a:p>
            <a:pPr>
              <a:spcAft>
                <a:spcPts val="400"/>
              </a:spcAft>
              <a:defRPr sz="10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Evaluate </a:t>
            </a:r>
            <a:r>
              <a:rPr lang="en-US" sz="900" dirty="0"/>
              <a:t>for a </a:t>
            </a:r>
            <a:r>
              <a:rPr sz="900" dirty="0"/>
              <a:t>guest suite / model use once occupancy reaches 40%-50%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1097280"/>
            <a:ext cx="562356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5352" y="1097280"/>
            <a:ext cx="5623560" cy="73152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9944" y="1216152"/>
            <a:ext cx="3749039" cy="310896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9944" y="1234440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Viera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9944" y="1627632"/>
            <a:ext cx="5294376" cy="1858982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01384" y="1627207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30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1883664"/>
            <a:ext cx="5010912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900" strike="sngStrike" dirty="0"/>
              <a:t>General Manager hired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900" strike="sngStrike" dirty="0"/>
              <a:t>Leasing Manager hired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900" strike="sngStrike" dirty="0"/>
              <a:t>All-in pricing rolled out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lang="en-US" sz="900" dirty="0"/>
              <a:t>I</a:t>
            </a:r>
            <a:r>
              <a:rPr sz="900" dirty="0"/>
              <a:t>n-person training: lead intake, first response, discovery, follow-up, and closing execution</a:t>
            </a:r>
            <a:endParaRPr lang="en-US" sz="9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lang="en-US" sz="900" dirty="0"/>
              <a:t>Q2 - Revamped bonus - lease/application goals tied directly to community budget criteria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lang="en-US" sz="900" dirty="0"/>
              <a:t>55+ redesigned application experience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sz="900" dirty="0"/>
          </a:p>
        </p:txBody>
      </p:sp>
      <p:sp>
        <p:nvSpPr>
          <p:cNvPr id="28" name="Rectangle 27"/>
          <p:cNvSpPr/>
          <p:nvPr/>
        </p:nvSpPr>
        <p:spPr>
          <a:xfrm>
            <a:off x="6409944" y="3572704"/>
            <a:ext cx="5294376" cy="1214754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1384" y="3572704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31-60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5456" y="3798549"/>
            <a:ext cx="528629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Refresh market analysis and marketing plan: SEO, ads, mailers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900" strike="sngStrike" dirty="0"/>
              <a:t>Tighten discovery process and add testimonials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Push renewal conversations and </a:t>
            </a:r>
            <a:r>
              <a:rPr lang="en-US" sz="900" dirty="0"/>
              <a:t>launch increased resident </a:t>
            </a:r>
            <a:r>
              <a:rPr sz="900" dirty="0"/>
              <a:t>referral</a:t>
            </a:r>
            <a:r>
              <a:rPr lang="en-US" sz="900" dirty="0"/>
              <a:t> program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lang="en-US" sz="900" dirty="0"/>
              <a:t>Follow up in-person training/corp. leasing support w/ RISE Lease Up Specialist - 55+ Experienced Morgan Matlock</a:t>
            </a:r>
            <a:endParaRPr sz="900" dirty="0"/>
          </a:p>
        </p:txBody>
      </p:sp>
      <p:sp>
        <p:nvSpPr>
          <p:cNvPr id="31" name="Rectangle 30"/>
          <p:cNvSpPr/>
          <p:nvPr/>
        </p:nvSpPr>
        <p:spPr>
          <a:xfrm>
            <a:off x="6409944" y="4856140"/>
            <a:ext cx="5294376" cy="744458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01384" y="4882600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61-90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5129676"/>
            <a:ext cx="5010912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Protect rate while improving qualified-tour conversion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900" dirty="0"/>
              <a:t>Expand review mix beyond Google to improve ORA visibility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797296"/>
            <a:ext cx="11548872" cy="621792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59161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"/>
              </a:rPr>
              <a:t>Training 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897880"/>
            <a:ext cx="8961120" cy="5770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FFFFFF"/>
                </a:solidFill>
                <a:latin typeface="Helvetica"/>
              </a:rPr>
              <a:t>Viera in-person Wednesday 04/15/26 | GKP in-person Thursday 04/23/26  |  </a:t>
            </a:r>
            <a:r>
              <a:rPr lang="en-US" sz="1050" dirty="0">
                <a:solidFill>
                  <a:srgbClr val="FFFFFF"/>
                </a:solidFill>
                <a:latin typeface="Helvetica"/>
              </a:rPr>
              <a:t>May 2026 </a:t>
            </a:r>
            <a:r>
              <a:rPr sz="1050" b="0" dirty="0">
                <a:solidFill>
                  <a:srgbClr val="FFFFFF"/>
                </a:solidFill>
                <a:latin typeface="Helvetica"/>
              </a:rPr>
              <a:t>follow-up with Morgan Matlock: Viera Wednesday 05/13/26 | GKP Thursday 05/21/26  |  Ongoing virtual follow-up calls, corporate support, sentiment review, and weekly coaching when benchmarks</a:t>
            </a:r>
            <a:r>
              <a:rPr lang="en-US" sz="1050" b="0" dirty="0">
                <a:solidFill>
                  <a:srgbClr val="FFFFFF"/>
                </a:solidFill>
                <a:latin typeface="Helvetica"/>
              </a:rPr>
              <a:t>/goals</a:t>
            </a:r>
            <a:r>
              <a:rPr sz="1050" b="0" dirty="0">
                <a:solidFill>
                  <a:srgbClr val="FFFFFF"/>
                </a:solidFill>
                <a:latin typeface="Helvetica"/>
              </a:rPr>
              <a:t> are missed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7360"/>
            <a:ext cx="7498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Helvetica"/>
              </a:rPr>
              <a:t>Marketing Strategy + Next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AEAF0"/>
                </a:solidFill>
                <a:latin typeface="Helvetica"/>
              </a:rPr>
              <a:t>Focus: keep Viera at or above budget while accelerating Glen Kernan Park lease-up without giving away the rate premium to submarket.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146304"/>
            <a:ext cx="1170432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se_logo_brand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219456"/>
            <a:ext cx="749808" cy="3576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143000"/>
            <a:ext cx="37033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703320" cy="493776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8016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"/>
              </a:rPr>
              <a:t>Current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39" y="1796890"/>
            <a:ext cx="3703319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SEO / paid search, digital ads, and direct mail in market</a:t>
            </a:r>
            <a:r>
              <a:rPr lang="en-US" sz="1200" dirty="0"/>
              <a:t>. Reallocate </a:t>
            </a:r>
            <a:r>
              <a:rPr lang="en-US" sz="1200" dirty="0" err="1"/>
              <a:t>apts.com</a:t>
            </a:r>
            <a:r>
              <a:rPr lang="en-US" sz="1200" dirty="0"/>
              <a:t> spend towards higher ROI lead sources. </a:t>
            </a:r>
            <a:endParaRPr sz="1200" dirty="0"/>
          </a:p>
          <a:p>
            <a:pPr>
              <a:spcAft>
                <a:spcPts val="400"/>
              </a:spcAft>
              <a:defRPr sz="12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Weekly submarket review to stay competitive without eroding value</a:t>
            </a:r>
            <a:endParaRPr lang="en-US" sz="1200" dirty="0"/>
          </a:p>
          <a:p>
            <a:pPr>
              <a:spcAft>
                <a:spcPts val="400"/>
              </a:spcAft>
              <a:defRPr sz="1200">
                <a:solidFill>
                  <a:srgbClr val="023046"/>
                </a:solidFill>
                <a:latin typeface="Helvetica"/>
              </a:defRPr>
            </a:pPr>
            <a:endParaRPr sz="1200" dirty="0"/>
          </a:p>
          <a:p>
            <a:pPr>
              <a:spcAft>
                <a:spcPts val="400"/>
              </a:spcAft>
              <a:defRPr sz="1200">
                <a:solidFill>
                  <a:srgbClr val="023046"/>
                </a:solidFill>
                <a:latin typeface="Helvetica"/>
              </a:defRPr>
            </a:pPr>
            <a:r>
              <a:rPr sz="1200" u="sng" dirty="0"/>
              <a:t>Review / reputation push: </a:t>
            </a:r>
            <a:endParaRPr lang="en-US" sz="1200" u="sng" dirty="0"/>
          </a:p>
          <a:p>
            <a:pPr>
              <a:spcAft>
                <a:spcPts val="400"/>
              </a:spcAft>
              <a:defRPr sz="1200">
                <a:solidFill>
                  <a:srgbClr val="023046"/>
                </a:solidFill>
                <a:latin typeface="Helvetica"/>
              </a:defRPr>
            </a:pPr>
            <a:r>
              <a:rPr sz="1100" dirty="0"/>
              <a:t>GKP Google 4.6 | ORA 65; Viera Google 4.7 | ORA 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56632"/>
            <a:ext cx="3328416" cy="86868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" y="4864608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F7686"/>
                </a:solidFill>
                <a:latin typeface="Helvetica"/>
              </a:rPr>
              <a:t>Marketing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80" y="5137029"/>
            <a:ext cx="27889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023046"/>
                </a:solidFill>
                <a:latin typeface="Helvetica"/>
              </a:rPr>
              <a:t>GKP still has a strong rate premium to submarket; Viera is near budget on revenue, so the next lift should come from conversion and retention before broader price pressure.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143000"/>
            <a:ext cx="3749039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9392" y="1143000"/>
            <a:ext cx="3749039" cy="493776"/>
          </a:xfrm>
          <a:prstGeom prst="rect">
            <a:avLst/>
          </a:prstGeom>
          <a:solidFill>
            <a:srgbClr val="023046"/>
          </a:solidFill>
          <a:ln>
            <a:solidFill>
              <a:srgbClr val="02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28016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"/>
              </a:rPr>
              <a:t>GKP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1773936"/>
            <a:ext cx="3657601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Concentrate ad spend and pricing action on hardest-to-lease plans and highest-exposure </a:t>
            </a:r>
            <a:r>
              <a:rPr lang="en-US" sz="1200" dirty="0"/>
              <a:t>units. 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lang="en-US"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Use local 55+ partnerships, broker outreach, and events to add qualified tours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lang="en-US"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Close the gap between 14.3% leased and </a:t>
            </a:r>
            <a:r>
              <a:rPr lang="en-US" sz="1200" dirty="0"/>
              <a:t>19.6% </a:t>
            </a:r>
            <a:r>
              <a:rPr sz="1200" dirty="0"/>
              <a:t>budget </a:t>
            </a:r>
            <a:r>
              <a:rPr lang="en-US" sz="1200" dirty="0"/>
              <a:t>for April </a:t>
            </a:r>
            <a:r>
              <a:rPr sz="1200" dirty="0"/>
              <a:t>with weekly follow-up accountability</a:t>
            </a:r>
            <a:r>
              <a:rPr lang="en-US" sz="1200" dirty="0"/>
              <a:t> and personalized contact points</a:t>
            </a:r>
            <a:endParaRPr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lang="en-US"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Maintain rate discipline: current effective rent is materially above both budget and submarket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lang="en-US"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Cross the occupancy threshold needed to activate a resident-referral program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3984" y="5056632"/>
            <a:ext cx="3419856" cy="86868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9432" y="5193792"/>
            <a:ext cx="3090672" cy="5770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23046"/>
                </a:solidFill>
                <a:latin typeface="Helvetica"/>
              </a:rPr>
              <a:t>90-day focus metrics: increase tour volume, close more than 7 leases per month, and narrow the budget revenue gap.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143000"/>
            <a:ext cx="3749039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65008" y="1143000"/>
            <a:ext cx="3749039" cy="493776"/>
          </a:xfrm>
          <a:prstGeom prst="rect">
            <a:avLst/>
          </a:prstGeom>
          <a:solidFill>
            <a:srgbClr val="549DB8"/>
          </a:solidFill>
          <a:ln>
            <a:solidFill>
              <a:srgbClr val="54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6176" y="128016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"/>
              </a:rPr>
              <a:t>Viera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3" y="1783080"/>
            <a:ext cx="358444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Protect N</a:t>
            </a:r>
            <a:r>
              <a:rPr lang="en-US" sz="1200" dirty="0"/>
              <a:t>ER </a:t>
            </a:r>
            <a:r>
              <a:rPr sz="1200" dirty="0"/>
              <a:t>that is already slightly above budget while improving occupancy</a:t>
            </a:r>
            <a:r>
              <a:rPr lang="en-US" sz="1200" dirty="0"/>
              <a:t>. Implement standing loss leaders to capture/distract Parasol traffic. </a:t>
            </a:r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Tighten lead-to-tour and tour-to-lease conversion through scripting and </a:t>
            </a:r>
            <a:r>
              <a:rPr lang="en-US" sz="1200" dirty="0"/>
              <a:t>structured </a:t>
            </a:r>
            <a:r>
              <a:rPr sz="1200" dirty="0"/>
              <a:t>follow-up cadence</a:t>
            </a:r>
            <a:endParaRPr lang="en-US"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Lean into referrals, renewals, and resident reviews to lower acquisition cost</a:t>
            </a:r>
            <a:endParaRPr lang="en-US"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endParaRPr sz="1200" dirty="0"/>
          </a:p>
          <a:p>
            <a:pPr>
              <a:spcAft>
                <a:spcPts val="400"/>
              </a:spcAft>
              <a:defRPr sz="1100">
                <a:solidFill>
                  <a:srgbClr val="023046"/>
                </a:solidFill>
                <a:latin typeface="Helvetica"/>
              </a:defRPr>
            </a:pPr>
            <a:r>
              <a:rPr sz="1200" dirty="0"/>
              <a:t>Diversify review sources beyond Google so ORA improves with volume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8229600" y="5056632"/>
            <a:ext cx="3419856" cy="868680"/>
          </a:xfrm>
          <a:prstGeom prst="rect">
            <a:avLst/>
          </a:prstGeom>
          <a:solidFill>
            <a:srgbClr val="EDF6F9"/>
          </a:solidFill>
          <a:ln>
            <a:solidFill>
              <a:srgbClr val="ED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85048" y="5193792"/>
            <a:ext cx="3090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23046"/>
                </a:solidFill>
                <a:latin typeface="Helvetica"/>
              </a:rPr>
              <a:t>90-day focus metrics: push physical occupancy into the upper-50s / low-60s while holding NRI at or above budget.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1222</Words>
  <Application>Microsoft Macintosh PowerPoint</Application>
  <PresentationFormat>Widescreen</PresentationFormat>
  <Paragraphs>161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Jacquelyn Heflin</cp:lastModifiedBy>
  <cp:revision>2</cp:revision>
  <dcterms:created xsi:type="dcterms:W3CDTF">2013-01-27T09:14:16Z</dcterms:created>
  <dcterms:modified xsi:type="dcterms:W3CDTF">2026-03-25T16:31:26Z</dcterms:modified>
  <cp:category/>
</cp:coreProperties>
</file>